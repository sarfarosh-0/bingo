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COVER"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/>
          <p:nvPr/>
        </p:nvSpPr>
        <p:spPr>
          <a:xfrm>
            <a:off x="365760" y="274320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FANTASTIC FOUR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" name="Google Shape;13;p2"/>
          <p:cNvCxnSpPr/>
          <p:nvPr/>
        </p:nvCxnSpPr>
        <p:spPr>
          <a:xfrm>
            <a:off x="365760" y="6446520"/>
            <a:ext cx="11457432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" name="Google Shape;14;p2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BinGo · Smart Waste Classifier · SDG 15 — Life on Land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2"/>
          <p:cNvSpPr txBox="1"/>
          <p:nvPr>
            <p:ph type="title"/>
          </p:nvPr>
        </p:nvSpPr>
        <p:spPr>
          <a:xfrm>
            <a:off x="2651760" y="201168"/>
            <a:ext cx="6858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Times New Roman"/>
              <a:buNone/>
              <a:defRPr b="1" i="0" sz="3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11155680" y="649224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>
  <p:cSld name="CONTENT">
    <p:bg>
      <p:bgPr>
        <a:solidFill>
          <a:schemeClr val="lt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/>
          <p:nvPr/>
        </p:nvSpPr>
        <p:spPr>
          <a:xfrm>
            <a:off x="365760" y="274320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FANTASTIC FOUR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9509760" y="27432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BIOSOLVE 2026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" name="Google Shape;20;p3"/>
          <p:cNvCxnSpPr/>
          <p:nvPr/>
        </p:nvCxnSpPr>
        <p:spPr>
          <a:xfrm>
            <a:off x="365760" y="6446520"/>
            <a:ext cx="11457432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" name="Google Shape;21;p3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BinGo · Smart Waste Classifier · SDG 15 — Life on Land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 txBox="1"/>
          <p:nvPr>
            <p:ph type="title"/>
          </p:nvPr>
        </p:nvSpPr>
        <p:spPr>
          <a:xfrm>
            <a:off x="2651760" y="201168"/>
            <a:ext cx="6858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Times New Roman"/>
              <a:buNone/>
              <a:defRPr b="1" i="0" sz="3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3" name="Google Shape;23;p3"/>
          <p:cNvSpPr txBox="1"/>
          <p:nvPr>
            <p:ph idx="12" type="sldNum"/>
          </p:nvPr>
        </p:nvSpPr>
        <p:spPr>
          <a:xfrm>
            <a:off x="11155680" y="649224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11155680" y="649224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1.png"/><Relationship Id="rId5" Type="http://schemas.openxmlformats.org/officeDocument/2006/relationships/image" Target="../media/image6.png"/><Relationship Id="rId6" Type="http://schemas.openxmlformats.org/officeDocument/2006/relationships/image" Target="../media/image3.png"/><Relationship Id="rId7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Relationship Id="rId4" Type="http://schemas.openxmlformats.org/officeDocument/2006/relationships/image" Target="../media/image15.png"/><Relationship Id="rId5" Type="http://schemas.openxmlformats.org/officeDocument/2006/relationships/image" Target="../media/image9.png"/><Relationship Id="rId6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1.png"/><Relationship Id="rId5" Type="http://schemas.openxmlformats.org/officeDocument/2006/relationships/image" Target="../media/image6.png"/><Relationship Id="rId6" Type="http://schemas.openxmlformats.org/officeDocument/2006/relationships/image" Target="../media/image3.png"/><Relationship Id="rId7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2651760" y="201168"/>
            <a:ext cx="6858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Times New Roman"/>
              <a:buNone/>
            </a:pPr>
            <a:r>
              <a:rPr b="1" lang="en-US" sz="3000">
                <a:solidFill>
                  <a:schemeClr val="dk2"/>
                </a:solidFill>
              </a:rPr>
              <a:t>BIOSOLVE 2026</a:t>
            </a:r>
            <a:endParaRPr sz="3000"/>
          </a:p>
        </p:txBody>
      </p:sp>
      <p:sp>
        <p:nvSpPr>
          <p:cNvPr id="31" name="Google Shape;31;p5"/>
          <p:cNvSpPr txBox="1"/>
          <p:nvPr/>
        </p:nvSpPr>
        <p:spPr>
          <a:xfrm>
            <a:off x="548640" y="1104859"/>
            <a:ext cx="58521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Font typeface="Times New Roman"/>
              <a:buNone/>
            </a:pPr>
            <a:r>
              <a:rPr b="1" i="0" lang="en-US" sz="72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BinGo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5"/>
          <p:cNvSpPr txBox="1"/>
          <p:nvPr/>
        </p:nvSpPr>
        <p:spPr>
          <a:xfrm>
            <a:off x="548640" y="2276682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Smart Waste Sorting · SDG 15 — Life on Land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5"/>
          <p:cNvSpPr/>
          <p:nvPr/>
        </p:nvSpPr>
        <p:spPr>
          <a:xfrm>
            <a:off x="548640" y="3017520"/>
            <a:ext cx="5852160" cy="1828800"/>
          </a:xfrm>
          <a:prstGeom prst="roundRect">
            <a:avLst>
              <a:gd fmla="val 4000" name="adj"/>
            </a:avLst>
          </a:prstGeom>
          <a:solidFill>
            <a:schemeClr val="lt1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5"/>
          <p:cNvSpPr txBox="1"/>
          <p:nvPr/>
        </p:nvSpPr>
        <p:spPr>
          <a:xfrm>
            <a:off x="685800" y="3108960"/>
            <a:ext cx="557784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alibri"/>
              <a:buNone/>
            </a:pPr>
            <a:r>
              <a:rPr b="1" i="0" lang="en-US" sz="19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Hackathon:</a:t>
            </a:r>
            <a:r>
              <a:rPr b="0" i="0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BioSolve 2026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alibri"/>
              <a:buNone/>
            </a:pPr>
            <a:r>
              <a:rPr b="1" i="0" lang="en-US" sz="19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Problem Statement:</a:t>
            </a:r>
            <a:r>
              <a:rPr b="0" i="0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Smart Waste Classifier App (SDG 15: Life on Land)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alibri"/>
              <a:buNone/>
            </a:pPr>
            <a:r>
              <a:rPr b="1" i="0" lang="en-US" sz="19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Team Name:</a:t>
            </a:r>
            <a:r>
              <a:rPr b="0" i="0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Fantastic Four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5"/>
          <p:cNvSpPr txBox="1"/>
          <p:nvPr/>
        </p:nvSpPr>
        <p:spPr>
          <a:xfrm>
            <a:off x="548640" y="5074920"/>
            <a:ext cx="5852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Calibri"/>
              <a:buNone/>
            </a:pPr>
            <a:r>
              <a:rPr b="0" i="1" lang="en-US" sz="18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Snap a photo of any waste item — BinGo tells you how to dispose of it, on-device, with no data leaving your phone.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5"/>
          <p:cNvSpPr/>
          <p:nvPr/>
        </p:nvSpPr>
        <p:spPr>
          <a:xfrm>
            <a:off x="6949440" y="1188720"/>
            <a:ext cx="4846320" cy="4846320"/>
          </a:xfrm>
          <a:prstGeom prst="roundRect">
            <a:avLst>
              <a:gd fmla="val 1509" name="adj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5"/>
          <p:cNvSpPr txBox="1"/>
          <p:nvPr/>
        </p:nvSpPr>
        <p:spPr>
          <a:xfrm>
            <a:off x="6949440" y="132588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One photo  →  5 waste categories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7315200" y="1920240"/>
            <a:ext cx="4114800" cy="658368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" name="Google Shape;3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8080" y="2048256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5"/>
          <p:cNvSpPr txBox="1"/>
          <p:nvPr/>
        </p:nvSpPr>
        <p:spPr>
          <a:xfrm>
            <a:off x="8092440" y="1920240"/>
            <a:ext cx="32004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Recyclable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7315200" y="2724912"/>
            <a:ext cx="4114800" cy="658368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" name="Google Shape;4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98080" y="2852928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5"/>
          <p:cNvSpPr txBox="1"/>
          <p:nvPr/>
        </p:nvSpPr>
        <p:spPr>
          <a:xfrm>
            <a:off x="8092440" y="2724912"/>
            <a:ext cx="32004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Organic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7315200" y="3529584"/>
            <a:ext cx="4114800" cy="658368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98080" y="3657600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5"/>
          <p:cNvSpPr txBox="1"/>
          <p:nvPr/>
        </p:nvSpPr>
        <p:spPr>
          <a:xfrm>
            <a:off x="8092440" y="3529584"/>
            <a:ext cx="32004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E-Waste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7315200" y="4334256"/>
            <a:ext cx="4114800" cy="658368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8" name="Google Shape;48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98080" y="4462272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5"/>
          <p:cNvSpPr txBox="1"/>
          <p:nvPr/>
        </p:nvSpPr>
        <p:spPr>
          <a:xfrm>
            <a:off x="8092440" y="4334256"/>
            <a:ext cx="32004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Hazardous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7315200" y="5138928"/>
            <a:ext cx="4114800" cy="658368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127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1" name="Google Shape;51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498080" y="5266944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5"/>
          <p:cNvSpPr txBox="1"/>
          <p:nvPr/>
        </p:nvSpPr>
        <p:spPr>
          <a:xfrm>
            <a:off x="8092440" y="5138928"/>
            <a:ext cx="32004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General / Non-recyclable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 txBox="1"/>
          <p:nvPr>
            <p:ph idx="4294967295" type="sldNum"/>
          </p:nvPr>
        </p:nvSpPr>
        <p:spPr>
          <a:xfrm>
            <a:off x="11155680" y="649224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"/>
          <p:cNvSpPr txBox="1"/>
          <p:nvPr>
            <p:ph type="title"/>
          </p:nvPr>
        </p:nvSpPr>
        <p:spPr>
          <a:xfrm>
            <a:off x="2651760" y="201168"/>
            <a:ext cx="6858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Times New Roman"/>
              <a:buNone/>
            </a:pPr>
            <a:r>
              <a:rPr b="1" lang="en-US" sz="3000">
                <a:solidFill>
                  <a:schemeClr val="dk2"/>
                </a:solidFill>
              </a:rPr>
              <a:t>PROBLEM &amp; SOLUTION</a:t>
            </a:r>
            <a:endParaRPr sz="3000"/>
          </a:p>
        </p:txBody>
      </p:sp>
      <p:sp>
        <p:nvSpPr>
          <p:cNvPr id="60" name="Google Shape;60;p6"/>
          <p:cNvSpPr/>
          <p:nvPr/>
        </p:nvSpPr>
        <p:spPr>
          <a:xfrm>
            <a:off x="457200" y="1097280"/>
            <a:ext cx="5577840" cy="3794760"/>
          </a:xfrm>
          <a:prstGeom prst="roundRect">
            <a:avLst>
              <a:gd fmla="val 1928" name="adj"/>
            </a:avLst>
          </a:prstGeom>
          <a:solidFill>
            <a:schemeClr val="lt1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6"/>
          <p:cNvSpPr txBox="1"/>
          <p:nvPr/>
        </p:nvSpPr>
        <p:spPr>
          <a:xfrm>
            <a:off x="578848" y="1214962"/>
            <a:ext cx="5212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Calibri"/>
              <a:buNone/>
            </a:pPr>
            <a:r>
              <a:rPr b="1" i="0" lang="en-US" sz="19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Understanding the Problem</a:t>
            </a:r>
            <a:endParaRPr b="1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6"/>
          <p:cNvSpPr txBox="1"/>
          <p:nvPr/>
        </p:nvSpPr>
        <p:spPr>
          <a:xfrm>
            <a:off x="557958" y="1665426"/>
            <a:ext cx="53949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76200" lIns="76200" spcFirstLastPara="1" rIns="76200" wrap="square" tIns="76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alibri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Improper segregation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at household level in India sends recyclable and hazardous waste to open landfills.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alibri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Environmental damage: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heavy-metal leaching, soil degradation, groundwater poisoning, habitat destruction.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alibri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Ambiguity at the bin: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multi-material packaging, e-waste and household hazardous items are hard to place.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alibri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Result: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contamination and improper dumping, even when people want to sort correctly.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6172200" y="1097280"/>
            <a:ext cx="5577840" cy="3794760"/>
          </a:xfrm>
          <a:prstGeom prst="roundRect">
            <a:avLst>
              <a:gd fmla="val 1928" name="adj"/>
            </a:avLst>
          </a:prstGeom>
          <a:solidFill>
            <a:schemeClr val="lt1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6"/>
          <p:cNvSpPr txBox="1"/>
          <p:nvPr/>
        </p:nvSpPr>
        <p:spPr>
          <a:xfrm>
            <a:off x="6293848" y="1214962"/>
            <a:ext cx="5212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00"/>
              <a:buFont typeface="Calibri"/>
              <a:buNone/>
            </a:pPr>
            <a:r>
              <a:rPr b="1" i="0" lang="en-US" sz="19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Our Solution: BinGo</a:t>
            </a:r>
            <a:endParaRPr b="1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6"/>
          <p:cNvSpPr txBox="1"/>
          <p:nvPr/>
        </p:nvSpPr>
        <p:spPr>
          <a:xfrm>
            <a:off x="6291594" y="1656108"/>
            <a:ext cx="53949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76200" lIns="76200" spcFirstLastPara="1" rIns="76200" wrap="square" tIns="76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alibri"/>
              <a:buNone/>
            </a:pPr>
            <a:r>
              <a:rPr b="1" i="0" lang="en-US" sz="17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Mobile-first web app:</a:t>
            </a: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capture or upload one photo of an item.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alibri"/>
              <a:buNone/>
            </a:pPr>
            <a:r>
              <a:rPr b="1" i="0" lang="en-US" sz="17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In-browser AI</a:t>
            </a: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classifies it into 5 standard waste categories.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alibri"/>
              <a:buNone/>
            </a:pPr>
            <a:r>
              <a:rPr b="1" i="0" lang="en-US" sz="17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Clear India-friendly steps</a:t>
            </a: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(dry/wet bins, kabadiwalas, e-waste centres).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alibri"/>
              <a:buNone/>
            </a:pPr>
            <a:r>
              <a:rPr b="1" i="0" lang="en-US" sz="17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SDG 15 fact</a:t>
            </a: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on every result links disposal to soil and biodiversity.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alibri"/>
              <a:buNone/>
            </a:pPr>
            <a:r>
              <a:rPr b="1" i="0" lang="en-US" sz="17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Honest "Not sure"</a:t>
            </a: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fallback instead of misleading advice.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6"/>
          <p:cNvSpPr/>
          <p:nvPr/>
        </p:nvSpPr>
        <p:spPr>
          <a:xfrm>
            <a:off x="457200" y="5120640"/>
            <a:ext cx="2770632" cy="1097280"/>
          </a:xfrm>
          <a:prstGeom prst="roundRect">
            <a:avLst>
              <a:gd fmla="val 6667" name="adj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 txBox="1"/>
          <p:nvPr/>
        </p:nvSpPr>
        <p:spPr>
          <a:xfrm>
            <a:off x="548640" y="5166360"/>
            <a:ext cx="258775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Instant clarity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6"/>
          <p:cNvSpPr txBox="1"/>
          <p:nvPr/>
        </p:nvSpPr>
        <p:spPr>
          <a:xfrm>
            <a:off x="567276" y="5596476"/>
            <a:ext cx="2587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 in under 2 s (target)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3328416" y="5120640"/>
            <a:ext cx="2770632" cy="1097280"/>
          </a:xfrm>
          <a:prstGeom prst="roundRect">
            <a:avLst>
              <a:gd fmla="val 6667" name="adj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6"/>
          <p:cNvSpPr txBox="1"/>
          <p:nvPr/>
        </p:nvSpPr>
        <p:spPr>
          <a:xfrm>
            <a:off x="3419856" y="5166360"/>
            <a:ext cx="258775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Zero barri</a:t>
            </a:r>
            <a:r>
              <a:rPr b="1" lang="en-US" sz="2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6"/>
          <p:cNvSpPr txBox="1"/>
          <p:nvPr/>
        </p:nvSpPr>
        <p:spPr>
          <a:xfrm>
            <a:off x="3419856" y="5577840"/>
            <a:ext cx="258775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login, no install, no server round-trip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6199632" y="5120640"/>
            <a:ext cx="2770632" cy="1097280"/>
          </a:xfrm>
          <a:prstGeom prst="roundRect">
            <a:avLst>
              <a:gd fmla="val 6667" name="adj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6"/>
          <p:cNvSpPr txBox="1"/>
          <p:nvPr/>
        </p:nvSpPr>
        <p:spPr>
          <a:xfrm>
            <a:off x="6291072" y="5166360"/>
            <a:ext cx="258775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Transparent ML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 txBox="1"/>
          <p:nvPr/>
        </p:nvSpPr>
        <p:spPr>
          <a:xfrm>
            <a:off x="6291072" y="5577840"/>
            <a:ext cx="258775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Confidence %, "Not sure" gate, feedback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9070848" y="5120640"/>
            <a:ext cx="2770632" cy="1097280"/>
          </a:xfrm>
          <a:prstGeom prst="roundRect">
            <a:avLst>
              <a:gd fmla="val 6667" name="adj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6"/>
          <p:cNvSpPr txBox="1"/>
          <p:nvPr/>
        </p:nvSpPr>
        <p:spPr>
          <a:xfrm>
            <a:off x="9162288" y="5166360"/>
            <a:ext cx="258775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2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Environmental literacy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 txBox="1"/>
          <p:nvPr/>
        </p:nvSpPr>
        <p:spPr>
          <a:xfrm>
            <a:off x="9162288" y="5577840"/>
            <a:ext cx="258775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Disposal tied to SDG 15: Life on Land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 txBox="1"/>
          <p:nvPr>
            <p:ph idx="4294967295" type="sldNum"/>
          </p:nvPr>
        </p:nvSpPr>
        <p:spPr>
          <a:xfrm>
            <a:off x="11155680" y="649224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7432860" y="4267747"/>
            <a:ext cx="3379800" cy="789000"/>
          </a:xfrm>
          <a:prstGeom prst="roundRect">
            <a:avLst>
              <a:gd fmla="val 16667" name="adj"/>
            </a:avLst>
          </a:prstGeom>
          <a:solidFill>
            <a:srgbClr val="91BCF4">
              <a:alpha val="51250"/>
            </a:srgbClr>
          </a:solidFill>
          <a:ln cap="flat" cmpd="sng" w="82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450" lIns="79450" spcFirstLastPara="1" rIns="79450" wrap="square" tIns="79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17"/>
          </a:p>
        </p:txBody>
      </p:sp>
      <p:sp>
        <p:nvSpPr>
          <p:cNvPr id="80" name="Google Shape;80;p6"/>
          <p:cNvSpPr txBox="1"/>
          <p:nvPr/>
        </p:nvSpPr>
        <p:spPr>
          <a:xfrm>
            <a:off x="7773025" y="4349642"/>
            <a:ext cx="1967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79450" lIns="79450" spcFirstLastPara="1" rIns="79450" wrap="square" tIns="79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77"/>
              <a:t>Project Live Link</a:t>
            </a:r>
            <a:endParaRPr b="1" sz="1477"/>
          </a:p>
        </p:txBody>
      </p:sp>
      <p:sp>
        <p:nvSpPr>
          <p:cNvPr id="81" name="Google Shape;81;p6"/>
          <p:cNvSpPr txBox="1"/>
          <p:nvPr/>
        </p:nvSpPr>
        <p:spPr>
          <a:xfrm>
            <a:off x="8151176" y="4601435"/>
            <a:ext cx="13071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79450" lIns="79450" spcFirstLastPara="1" rIns="79450" wrap="square" tIns="79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3"/>
              <a:t>BinGo</a:t>
            </a:r>
            <a:endParaRPr b="1" sz="1703"/>
          </a:p>
        </p:txBody>
      </p:sp>
      <p:pic>
        <p:nvPicPr>
          <p:cNvPr id="82" name="Google Shape;82;p6" title="Bin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76547" y="4296806"/>
            <a:ext cx="727857" cy="7278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7"/>
          <p:cNvSpPr txBox="1"/>
          <p:nvPr>
            <p:ph type="title"/>
          </p:nvPr>
        </p:nvSpPr>
        <p:spPr>
          <a:xfrm>
            <a:off x="2651760" y="201168"/>
            <a:ext cx="6858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Times New Roman"/>
              <a:buNone/>
            </a:pPr>
            <a:r>
              <a:rPr b="1" lang="en-US" sz="3000">
                <a:solidFill>
                  <a:schemeClr val="dk2"/>
                </a:solidFill>
              </a:rPr>
              <a:t>HOW BINGO WORKS</a:t>
            </a:r>
            <a:endParaRPr sz="3000"/>
          </a:p>
        </p:txBody>
      </p:sp>
      <p:sp>
        <p:nvSpPr>
          <p:cNvPr id="89" name="Google Shape;89;p7"/>
          <p:cNvSpPr/>
          <p:nvPr/>
        </p:nvSpPr>
        <p:spPr>
          <a:xfrm>
            <a:off x="457200" y="1253101"/>
            <a:ext cx="1874400" cy="1920300"/>
          </a:xfrm>
          <a:prstGeom prst="roundRect">
            <a:avLst>
              <a:gd fmla="val 3902" name="adj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7"/>
          <p:cNvSpPr txBox="1"/>
          <p:nvPr/>
        </p:nvSpPr>
        <p:spPr>
          <a:xfrm>
            <a:off x="496155" y="1307569"/>
            <a:ext cx="1691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 · Open app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7"/>
          <p:cNvSpPr txBox="1"/>
          <p:nvPr/>
        </p:nvSpPr>
        <p:spPr>
          <a:xfrm>
            <a:off x="566135" y="1852243"/>
            <a:ext cx="1691700" cy="13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Loads rules.json and the TF.js model; scan buttons disabled until ready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92" name="Google Shape;92;p7"/>
          <p:cNvCxnSpPr/>
          <p:nvPr/>
        </p:nvCxnSpPr>
        <p:spPr>
          <a:xfrm>
            <a:off x="2350008" y="2213221"/>
            <a:ext cx="365700" cy="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3" name="Google Shape;93;p7"/>
          <p:cNvSpPr/>
          <p:nvPr/>
        </p:nvSpPr>
        <p:spPr>
          <a:xfrm>
            <a:off x="2743200" y="1253101"/>
            <a:ext cx="1874400" cy="1920300"/>
          </a:xfrm>
          <a:prstGeom prst="roundRect">
            <a:avLst>
              <a:gd fmla="val 3902" name="adj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7"/>
          <p:cNvSpPr txBox="1"/>
          <p:nvPr/>
        </p:nvSpPr>
        <p:spPr>
          <a:xfrm>
            <a:off x="2764660" y="1316316"/>
            <a:ext cx="1691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2 · Capture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7"/>
          <p:cNvSpPr txBox="1"/>
          <p:nvPr/>
        </p:nvSpPr>
        <p:spPr>
          <a:xfrm>
            <a:off x="2852135" y="1852243"/>
            <a:ext cx="1691700" cy="13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Camera (native capture) or gallery upload; one item per scan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96" name="Google Shape;96;p7"/>
          <p:cNvCxnSpPr/>
          <p:nvPr/>
        </p:nvCxnSpPr>
        <p:spPr>
          <a:xfrm>
            <a:off x="4636008" y="2213221"/>
            <a:ext cx="365700" cy="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7" name="Google Shape;97;p7"/>
          <p:cNvSpPr/>
          <p:nvPr/>
        </p:nvSpPr>
        <p:spPr>
          <a:xfrm>
            <a:off x="5029200" y="1253101"/>
            <a:ext cx="1874400" cy="1920300"/>
          </a:xfrm>
          <a:prstGeom prst="roundRect">
            <a:avLst>
              <a:gd fmla="val 3902" name="adj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7"/>
          <p:cNvSpPr txBox="1"/>
          <p:nvPr/>
        </p:nvSpPr>
        <p:spPr>
          <a:xfrm>
            <a:off x="5050660" y="1325064"/>
            <a:ext cx="1691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3 · Analyze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 txBox="1"/>
          <p:nvPr/>
        </p:nvSpPr>
        <p:spPr>
          <a:xfrm>
            <a:off x="5138135" y="1852243"/>
            <a:ext cx="1691700" cy="13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 scaled to ≤512 px; scan-line view shown for at least 500 ms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00" name="Google Shape;100;p7"/>
          <p:cNvCxnSpPr/>
          <p:nvPr/>
        </p:nvCxnSpPr>
        <p:spPr>
          <a:xfrm>
            <a:off x="6922008" y="2213221"/>
            <a:ext cx="365700" cy="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1" name="Google Shape;101;p7"/>
          <p:cNvSpPr/>
          <p:nvPr/>
        </p:nvSpPr>
        <p:spPr>
          <a:xfrm>
            <a:off x="7315200" y="1115941"/>
            <a:ext cx="2103000" cy="2194500"/>
          </a:xfrm>
          <a:prstGeom prst="diamond">
            <a:avLst/>
          </a:prstGeom>
          <a:solidFill>
            <a:srgbClr val="FDCFCF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7"/>
          <p:cNvSpPr txBox="1"/>
          <p:nvPr/>
        </p:nvSpPr>
        <p:spPr>
          <a:xfrm>
            <a:off x="7635240" y="1618861"/>
            <a:ext cx="14631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alibri"/>
              <a:buNone/>
            </a:pPr>
            <a:r>
              <a:rPr b="1" i="0" lang="en-US" sz="16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Top class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alibri"/>
              <a:buNone/>
            </a:pPr>
            <a:r>
              <a:rPr b="1" i="0" lang="en-US" sz="16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≥ 60% and not Background?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" name="Google Shape;103;p7"/>
          <p:cNvCxnSpPr/>
          <p:nvPr/>
        </p:nvCxnSpPr>
        <p:spPr>
          <a:xfrm>
            <a:off x="9418320" y="1801741"/>
            <a:ext cx="502800" cy="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4" name="Google Shape;104;p7"/>
          <p:cNvCxnSpPr/>
          <p:nvPr/>
        </p:nvCxnSpPr>
        <p:spPr>
          <a:xfrm>
            <a:off x="9418320" y="2624701"/>
            <a:ext cx="502800" cy="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5" name="Google Shape;105;p7"/>
          <p:cNvSpPr/>
          <p:nvPr/>
        </p:nvSpPr>
        <p:spPr>
          <a:xfrm>
            <a:off x="9921240" y="933061"/>
            <a:ext cx="1874400" cy="1371600"/>
          </a:xfrm>
          <a:prstGeom prst="roundRect">
            <a:avLst>
              <a:gd fmla="val 5333" name="adj"/>
            </a:avLst>
          </a:prstGeom>
          <a:solidFill>
            <a:srgbClr val="B5FDD0">
              <a:alpha val="56250"/>
            </a:srgbClr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7"/>
          <p:cNvSpPr txBox="1"/>
          <p:nvPr/>
        </p:nvSpPr>
        <p:spPr>
          <a:xfrm>
            <a:off x="9966960" y="1022518"/>
            <a:ext cx="178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Calibri"/>
              <a:buNone/>
            </a:pPr>
            <a:r>
              <a:rPr b="1" i="0" lang="en-US" sz="17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YES → Confident</a:t>
            </a:r>
            <a:endParaRPr b="1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 txBox="1"/>
          <p:nvPr/>
        </p:nvSpPr>
        <p:spPr>
          <a:xfrm>
            <a:off x="9994392" y="1377548"/>
            <a:ext cx="17373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Category, "{n}% sure", disposal steps, SDG 15 fact, thumbs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9921240" y="2400067"/>
            <a:ext cx="1874400" cy="1371600"/>
          </a:xfrm>
          <a:prstGeom prst="roundRect">
            <a:avLst>
              <a:gd fmla="val 5333" name="adj"/>
            </a:avLst>
          </a:prstGeom>
          <a:solidFill>
            <a:srgbClr val="C6CBD6">
              <a:alpha val="67500"/>
            </a:srgbClr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7"/>
          <p:cNvSpPr txBox="1"/>
          <p:nvPr/>
        </p:nvSpPr>
        <p:spPr>
          <a:xfrm>
            <a:off x="9966960" y="2507019"/>
            <a:ext cx="178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00"/>
              <a:buFont typeface="Calibri"/>
              <a:buNone/>
            </a:pPr>
            <a:r>
              <a:rPr b="1" i="0" lang="en-US" sz="17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NO → Not sure</a:t>
            </a:r>
            <a:endParaRPr b="1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 txBox="1"/>
          <p:nvPr/>
        </p:nvSpPr>
        <p:spPr>
          <a:xfrm>
            <a:off x="9994392" y="2870796"/>
            <a:ext cx="17373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"Not sure, try another angle" + 2 tips; not saved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457200" y="3840480"/>
            <a:ext cx="5577840" cy="2377440"/>
          </a:xfrm>
          <a:prstGeom prst="roundRect">
            <a:avLst>
              <a:gd fmla="val 3077" name="adj"/>
            </a:avLst>
          </a:prstGeom>
          <a:solidFill>
            <a:schemeClr val="lt1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"/>
          <p:cNvSpPr txBox="1"/>
          <p:nvPr/>
        </p:nvSpPr>
        <p:spPr>
          <a:xfrm>
            <a:off x="570100" y="3923173"/>
            <a:ext cx="5212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00"/>
              <a:buFont typeface="Calibri"/>
              <a:buNone/>
            </a:pPr>
            <a:r>
              <a:rPr b="1" i="0" lang="en-US" sz="20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On every confident scan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 txBox="1"/>
          <p:nvPr/>
        </p:nvSpPr>
        <p:spPr>
          <a:xfrm>
            <a:off x="499460" y="4290138"/>
            <a:ext cx="53949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76200" lIns="76200" spcFirstLastPara="1" rIns="76200" wrap="square" tIns="76200">
            <a:noAutofit/>
          </a:bodyPr>
          <a:lstStyle/>
          <a:p>
            <a:pPr indent="-311150" lvl="0" marL="457200" marR="0" rtl="0" algn="l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100 px thumbnail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saved to local history (last 50 scans)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Items-sorted counter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increments (keeps counting past 50)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Daily streak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updated by local calendar date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Thumbs up / down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feedback stored on-device only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6172200" y="3840480"/>
            <a:ext cx="5623560" cy="2377440"/>
          </a:xfrm>
          <a:prstGeom prst="roundRect">
            <a:avLst>
              <a:gd fmla="val 3077" name="adj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7"/>
          <p:cNvSpPr txBox="1"/>
          <p:nvPr/>
        </p:nvSpPr>
        <p:spPr>
          <a:xfrm>
            <a:off x="6316693" y="3949055"/>
            <a:ext cx="5212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Calibri"/>
              <a:buNone/>
            </a:pPr>
            <a:r>
              <a:rPr b="1" i="0" lang="en-US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Navigation &amp; next scan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 txBox="1"/>
          <p:nvPr/>
        </p:nvSpPr>
        <p:spPr>
          <a:xfrm>
            <a:off x="6289882" y="4384805"/>
            <a:ext cx="54408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76200" lIns="76200" spcFirstLastPara="1" rIns="76200" wrap="square" tIns="76200">
            <a:noAutofit/>
          </a:bodyPr>
          <a:lstStyle/>
          <a:p>
            <a:pPr indent="-311150" lvl="0" marL="457200" marR="0" rtl="0" algn="l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"Scan another item"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button on both result screens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Browser/system </a:t>
            </a:r>
            <a:r>
              <a:rPr b="1" i="0" lang="en-US" sz="1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Back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returns to Home or History; never leaves the 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Close </a:t>
            </a:r>
            <a:r>
              <a:rPr b="1" i="0" lang="en-US" sz="1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on the analyzing screen returns Home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 txBox="1"/>
          <p:nvPr>
            <p:ph idx="4294967295" type="sldNum"/>
          </p:nvPr>
        </p:nvSpPr>
        <p:spPr>
          <a:xfrm>
            <a:off x="11155680" y="649224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"/>
          <p:cNvSpPr txBox="1"/>
          <p:nvPr>
            <p:ph type="title"/>
          </p:nvPr>
        </p:nvSpPr>
        <p:spPr>
          <a:xfrm>
            <a:off x="2623185" y="77343"/>
            <a:ext cx="6858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Times New Roman"/>
              <a:buNone/>
            </a:pPr>
            <a:r>
              <a:rPr b="1" lang="en-US" sz="3000">
                <a:solidFill>
                  <a:schemeClr val="dk2"/>
                </a:solidFill>
              </a:rPr>
              <a:t>APP SCREENS</a:t>
            </a:r>
            <a:endParaRPr sz="3000"/>
          </a:p>
        </p:txBody>
      </p:sp>
      <p:sp>
        <p:nvSpPr>
          <p:cNvPr id="124" name="Google Shape;124;p8"/>
          <p:cNvSpPr txBox="1"/>
          <p:nvPr/>
        </p:nvSpPr>
        <p:spPr>
          <a:xfrm>
            <a:off x="742950" y="5564497"/>
            <a:ext cx="25602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Home — impact card &amp; scan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8"/>
          <p:cNvSpPr txBox="1"/>
          <p:nvPr/>
        </p:nvSpPr>
        <p:spPr>
          <a:xfrm>
            <a:off x="3486151" y="5564497"/>
            <a:ext cx="25602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Result — steps, SDG 15 fact, feedback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8"/>
          <p:cNvSpPr txBox="1"/>
          <p:nvPr/>
        </p:nvSpPr>
        <p:spPr>
          <a:xfrm>
            <a:off x="6229353" y="5564497"/>
            <a:ext cx="25602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1" lang="en-US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Impact Counter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8"/>
          <p:cNvSpPr txBox="1"/>
          <p:nvPr/>
        </p:nvSpPr>
        <p:spPr>
          <a:xfrm>
            <a:off x="8972554" y="5564497"/>
            <a:ext cx="25602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History — last 50 scans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8"/>
          <p:cNvSpPr txBox="1"/>
          <p:nvPr>
            <p:ph idx="4294967295" type="sldNum"/>
          </p:nvPr>
        </p:nvSpPr>
        <p:spPr>
          <a:xfrm>
            <a:off x="11155680" y="649224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9" name="Google Shape;129;p8" title="Scan-Result-phon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775" y="1073593"/>
            <a:ext cx="2386585" cy="45421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8" title="Home-Screen-phon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72560" y="1127438"/>
            <a:ext cx="2386585" cy="45445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8" title="History-phon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16366" y="1073593"/>
            <a:ext cx="2386584" cy="45421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8" title="Impact-Counter-phone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16155" y="1073593"/>
            <a:ext cx="2386584" cy="45421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9"/>
          <p:cNvSpPr txBox="1"/>
          <p:nvPr>
            <p:ph type="title"/>
          </p:nvPr>
        </p:nvSpPr>
        <p:spPr>
          <a:xfrm>
            <a:off x="2651760" y="201168"/>
            <a:ext cx="6858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Times New Roman"/>
              <a:buNone/>
            </a:pPr>
            <a:r>
              <a:rPr b="1" lang="en-US" sz="3000">
                <a:solidFill>
                  <a:schemeClr val="dk2"/>
                </a:solidFill>
              </a:rPr>
              <a:t>WASTE CATEGORIES &amp; DISPOSAL</a:t>
            </a:r>
            <a:endParaRPr sz="3000"/>
          </a:p>
        </p:txBody>
      </p:sp>
      <p:sp>
        <p:nvSpPr>
          <p:cNvPr id="139" name="Google Shape;139;p9"/>
          <p:cNvSpPr/>
          <p:nvPr/>
        </p:nvSpPr>
        <p:spPr>
          <a:xfrm>
            <a:off x="390525" y="1040130"/>
            <a:ext cx="2176200" cy="4572000"/>
          </a:xfrm>
          <a:prstGeom prst="roundRect">
            <a:avLst>
              <a:gd fmla="val 3361" name="adj"/>
            </a:avLst>
          </a:prstGeom>
          <a:solidFill>
            <a:schemeClr val="lt1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9"/>
          <p:cNvSpPr/>
          <p:nvPr/>
        </p:nvSpPr>
        <p:spPr>
          <a:xfrm>
            <a:off x="390525" y="1040130"/>
            <a:ext cx="2176200" cy="777300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1" name="Google Shape;14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7685" y="122301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9"/>
          <p:cNvSpPr txBox="1"/>
          <p:nvPr/>
        </p:nvSpPr>
        <p:spPr>
          <a:xfrm>
            <a:off x="1012317" y="1040130"/>
            <a:ext cx="14904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Recyclable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9"/>
          <p:cNvSpPr txBox="1"/>
          <p:nvPr/>
        </p:nvSpPr>
        <p:spPr>
          <a:xfrm>
            <a:off x="471678" y="1937385"/>
            <a:ext cx="1956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Calibri"/>
              <a:buNone/>
            </a:pPr>
            <a:r>
              <a:rPr b="1" i="0" lang="en-US" sz="24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Includes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9"/>
          <p:cNvSpPr txBox="1"/>
          <p:nvPr/>
        </p:nvSpPr>
        <p:spPr>
          <a:xfrm>
            <a:off x="490728" y="2306955"/>
            <a:ext cx="19569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Bottles, clean paper, cans, glass jars, tetra packs</a:t>
            </a:r>
            <a:endParaRPr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9"/>
          <p:cNvSpPr txBox="1"/>
          <p:nvPr/>
        </p:nvSpPr>
        <p:spPr>
          <a:xfrm>
            <a:off x="490728" y="3394710"/>
            <a:ext cx="1956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Calibri"/>
              <a:buNone/>
            </a:pPr>
            <a:r>
              <a:rPr b="1" i="0" lang="en-US" sz="24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How to dispose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9"/>
          <p:cNvSpPr txBox="1"/>
          <p:nvPr/>
        </p:nvSpPr>
        <p:spPr>
          <a:xfrm>
            <a:off x="414528" y="3783330"/>
            <a:ext cx="19569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11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Empty and rinse it.</a:t>
            </a:r>
            <a:endParaRPr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Keep it dry.</a:t>
            </a:r>
            <a:endParaRPr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Dry-waste bin, or give to a kabadiwala / recycler.</a:t>
            </a:r>
            <a:endParaRPr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9"/>
          <p:cNvSpPr/>
          <p:nvPr/>
        </p:nvSpPr>
        <p:spPr>
          <a:xfrm>
            <a:off x="2713101" y="1040130"/>
            <a:ext cx="2176200" cy="4572000"/>
          </a:xfrm>
          <a:prstGeom prst="roundRect">
            <a:avLst>
              <a:gd fmla="val 3361" name="adj"/>
            </a:avLst>
          </a:prstGeom>
          <a:solidFill>
            <a:schemeClr val="lt1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9"/>
          <p:cNvSpPr/>
          <p:nvPr/>
        </p:nvSpPr>
        <p:spPr>
          <a:xfrm>
            <a:off x="2713101" y="1040130"/>
            <a:ext cx="2176200" cy="777300"/>
          </a:xfrm>
          <a:prstGeom prst="rect">
            <a:avLst/>
          </a:prstGeom>
          <a:solidFill>
            <a:schemeClr val="accent3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9" name="Google Shape;14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0261" y="122301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9"/>
          <p:cNvSpPr txBox="1"/>
          <p:nvPr/>
        </p:nvSpPr>
        <p:spPr>
          <a:xfrm>
            <a:off x="3334893" y="1040130"/>
            <a:ext cx="14904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Organic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9"/>
          <p:cNvSpPr txBox="1"/>
          <p:nvPr/>
        </p:nvSpPr>
        <p:spPr>
          <a:xfrm>
            <a:off x="2794254" y="1937385"/>
            <a:ext cx="1956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Calibri"/>
              <a:buNone/>
            </a:pPr>
            <a:r>
              <a:rPr b="1" i="0" lang="en-US" sz="24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Includes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9"/>
          <p:cNvSpPr txBox="1"/>
          <p:nvPr/>
        </p:nvSpPr>
        <p:spPr>
          <a:xfrm>
            <a:off x="2813304" y="2306955"/>
            <a:ext cx="19569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Peels, food leftovers, tea leaves, eggshells, garden leaves</a:t>
            </a:r>
            <a:endParaRPr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9"/>
          <p:cNvSpPr txBox="1"/>
          <p:nvPr/>
        </p:nvSpPr>
        <p:spPr>
          <a:xfrm>
            <a:off x="2813304" y="3394710"/>
            <a:ext cx="1956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Calibri"/>
              <a:buNone/>
            </a:pPr>
            <a:r>
              <a:rPr b="1" i="0" lang="en-US" sz="24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How to dispose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9"/>
          <p:cNvSpPr txBox="1"/>
          <p:nvPr/>
        </p:nvSpPr>
        <p:spPr>
          <a:xfrm>
            <a:off x="2737104" y="3783330"/>
            <a:ext cx="19569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11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Wet-waste bin or compost pit.</a:t>
            </a:r>
            <a:endParaRPr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Don't mix it with plastic.</a:t>
            </a:r>
            <a:endParaRPr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9"/>
          <p:cNvSpPr/>
          <p:nvPr/>
        </p:nvSpPr>
        <p:spPr>
          <a:xfrm>
            <a:off x="5035677" y="1040130"/>
            <a:ext cx="2176200" cy="4572000"/>
          </a:xfrm>
          <a:prstGeom prst="roundRect">
            <a:avLst>
              <a:gd fmla="val 3361" name="adj"/>
            </a:avLst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9"/>
          <p:cNvSpPr/>
          <p:nvPr/>
        </p:nvSpPr>
        <p:spPr>
          <a:xfrm>
            <a:off x="5035677" y="1040130"/>
            <a:ext cx="2176200" cy="777300"/>
          </a:xfrm>
          <a:prstGeom prst="rect">
            <a:avLst/>
          </a:prstGeom>
          <a:solidFill>
            <a:schemeClr val="accent5"/>
          </a:solidFill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7" name="Google Shape;157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72837" y="122301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9"/>
          <p:cNvSpPr txBox="1"/>
          <p:nvPr/>
        </p:nvSpPr>
        <p:spPr>
          <a:xfrm>
            <a:off x="5657469" y="1040130"/>
            <a:ext cx="14904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E-Waste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 txBox="1"/>
          <p:nvPr/>
        </p:nvSpPr>
        <p:spPr>
          <a:xfrm>
            <a:off x="5116830" y="1937385"/>
            <a:ext cx="1956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Calibri"/>
              <a:buNone/>
            </a:pPr>
            <a:r>
              <a:rPr b="1" i="0" lang="en-US" sz="24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Includes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 txBox="1"/>
          <p:nvPr/>
        </p:nvSpPr>
        <p:spPr>
          <a:xfrm>
            <a:off x="5135880" y="2306955"/>
            <a:ext cx="19569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Old phones, chargers, cables, earphones, power banks</a:t>
            </a:r>
            <a:endParaRPr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 txBox="1"/>
          <p:nvPr/>
        </p:nvSpPr>
        <p:spPr>
          <a:xfrm>
            <a:off x="5135880" y="3394710"/>
            <a:ext cx="1956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Calibri"/>
              <a:buNone/>
            </a:pPr>
            <a:r>
              <a:rPr b="1" i="0" lang="en-US" sz="24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How to dispose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 txBox="1"/>
          <p:nvPr/>
        </p:nvSpPr>
        <p:spPr>
          <a:xfrm>
            <a:off x="5059680" y="3783330"/>
            <a:ext cx="19569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11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 in household waste.</a:t>
            </a:r>
            <a:endParaRPr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Hand to an authorised e-waste collector or take-back counter.</a:t>
            </a:r>
            <a:endParaRPr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7358253" y="1040130"/>
            <a:ext cx="2176200" cy="4572000"/>
          </a:xfrm>
          <a:prstGeom prst="roundRect">
            <a:avLst>
              <a:gd fmla="val 3361" name="adj"/>
            </a:avLst>
          </a:prstGeom>
          <a:solidFill>
            <a:schemeClr val="lt1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9"/>
          <p:cNvSpPr/>
          <p:nvPr/>
        </p:nvSpPr>
        <p:spPr>
          <a:xfrm>
            <a:off x="7358253" y="1040130"/>
            <a:ext cx="2176200" cy="77730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5" name="Google Shape;165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95413" y="122301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9"/>
          <p:cNvSpPr txBox="1"/>
          <p:nvPr/>
        </p:nvSpPr>
        <p:spPr>
          <a:xfrm>
            <a:off x="7980045" y="1040130"/>
            <a:ext cx="14904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Hazardous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 txBox="1"/>
          <p:nvPr/>
        </p:nvSpPr>
        <p:spPr>
          <a:xfrm>
            <a:off x="7439406" y="1937385"/>
            <a:ext cx="1956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alibri"/>
              <a:buNone/>
            </a:pPr>
            <a:r>
              <a:rPr b="1" i="0" lang="en-US" sz="24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Includes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 txBox="1"/>
          <p:nvPr/>
        </p:nvSpPr>
        <p:spPr>
          <a:xfrm>
            <a:off x="7458456" y="2306955"/>
            <a:ext cx="19569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Loose batteries, CFLs / tubes, expired medicines, aerosol cans</a:t>
            </a:r>
            <a:endParaRPr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 txBox="1"/>
          <p:nvPr/>
        </p:nvSpPr>
        <p:spPr>
          <a:xfrm>
            <a:off x="7458456" y="3394710"/>
            <a:ext cx="1956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alibri"/>
              <a:buNone/>
            </a:pPr>
            <a:r>
              <a:rPr b="1" i="0" lang="en-US" sz="24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How to dispose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"/>
          <p:cNvSpPr txBox="1"/>
          <p:nvPr/>
        </p:nvSpPr>
        <p:spPr>
          <a:xfrm>
            <a:off x="7382256" y="3783330"/>
            <a:ext cx="19569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11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Keep separate and sealed.</a:t>
            </a:r>
            <a:endParaRPr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Don't burn, flush or mix it.</a:t>
            </a:r>
            <a:endParaRPr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Hazardous-waste collection point.</a:t>
            </a:r>
            <a:endParaRPr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9680829" y="1040130"/>
            <a:ext cx="2176200" cy="4572000"/>
          </a:xfrm>
          <a:prstGeom prst="roundRect">
            <a:avLst>
              <a:gd fmla="val 3361" name="adj"/>
            </a:avLst>
          </a:prstGeom>
          <a:solidFill>
            <a:schemeClr val="lt1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9"/>
          <p:cNvSpPr/>
          <p:nvPr/>
        </p:nvSpPr>
        <p:spPr>
          <a:xfrm>
            <a:off x="9680829" y="1040130"/>
            <a:ext cx="2176200" cy="777300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3" name="Google Shape;173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817989" y="122301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9"/>
          <p:cNvSpPr txBox="1"/>
          <p:nvPr/>
        </p:nvSpPr>
        <p:spPr>
          <a:xfrm>
            <a:off x="10302621" y="1040130"/>
            <a:ext cx="14904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General / Non-recycle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9"/>
          <p:cNvSpPr txBox="1"/>
          <p:nvPr/>
        </p:nvSpPr>
        <p:spPr>
          <a:xfrm>
            <a:off x="9761982" y="1937385"/>
            <a:ext cx="1956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alibri"/>
              <a:buNone/>
            </a:pPr>
            <a:r>
              <a:rPr b="1" i="0" lang="en-US" sz="24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Includes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 txBox="1"/>
          <p:nvPr/>
        </p:nvSpPr>
        <p:spPr>
          <a:xfrm>
            <a:off x="9781032" y="2306955"/>
            <a:ext cx="19569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Chip wrappers, soiled paper, tissues, thermocol, broken ceramics</a:t>
            </a:r>
            <a:endParaRPr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 txBox="1"/>
          <p:nvPr/>
        </p:nvSpPr>
        <p:spPr>
          <a:xfrm>
            <a:off x="9781032" y="3394710"/>
            <a:ext cx="1956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alibri"/>
              <a:buNone/>
            </a:pPr>
            <a:r>
              <a:rPr b="1" i="0" lang="en-US" sz="24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How to dispose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/>
          <p:cNvSpPr txBox="1"/>
          <p:nvPr/>
        </p:nvSpPr>
        <p:spPr>
          <a:xfrm>
            <a:off x="9704832" y="3783330"/>
            <a:ext cx="19569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11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Wrap it, general dry non-recyclable bin.</a:t>
            </a:r>
            <a:endParaRPr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Don't litter.</a:t>
            </a:r>
            <a:endParaRPr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457200" y="5806440"/>
            <a:ext cx="11338500" cy="548700"/>
          </a:xfrm>
          <a:prstGeom prst="roundRect">
            <a:avLst>
              <a:gd fmla="val 13333" name="adj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9"/>
          <p:cNvSpPr txBox="1"/>
          <p:nvPr/>
        </p:nvSpPr>
        <p:spPr>
          <a:xfrm>
            <a:off x="548640" y="5806440"/>
            <a:ext cx="11155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Calibri"/>
              <a:buNone/>
            </a:pPr>
            <a:r>
              <a:rPr b="1" i="0" lang="en-US" sz="16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Hidden 6th class — Background</a:t>
            </a: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(empty frames, walls, hands, clutter): never shown to users; if it wins, the app answers "Not sure".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 txBox="1"/>
          <p:nvPr>
            <p:ph idx="4294967295" type="sldNum"/>
          </p:nvPr>
        </p:nvSpPr>
        <p:spPr>
          <a:xfrm>
            <a:off x="11155680" y="649224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0"/>
          <p:cNvSpPr txBox="1"/>
          <p:nvPr>
            <p:ph type="title"/>
          </p:nvPr>
        </p:nvSpPr>
        <p:spPr>
          <a:xfrm>
            <a:off x="2651760" y="201168"/>
            <a:ext cx="6858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Times New Roman"/>
              <a:buNone/>
            </a:pPr>
            <a:r>
              <a:rPr b="1" lang="en-US" sz="3000">
                <a:solidFill>
                  <a:schemeClr val="dk2"/>
                </a:solidFill>
              </a:rPr>
              <a:t>TECHNICAL APPROACH</a:t>
            </a:r>
            <a:endParaRPr sz="3000"/>
          </a:p>
        </p:txBody>
      </p:sp>
      <p:sp>
        <p:nvSpPr>
          <p:cNvPr id="188" name="Google Shape;188;p10"/>
          <p:cNvSpPr/>
          <p:nvPr/>
        </p:nvSpPr>
        <p:spPr>
          <a:xfrm>
            <a:off x="457200" y="1097280"/>
            <a:ext cx="5760720" cy="3337560"/>
          </a:xfrm>
          <a:prstGeom prst="roundRect">
            <a:avLst>
              <a:gd fmla="val 2192" name="adj"/>
            </a:avLst>
          </a:prstGeom>
          <a:solidFill>
            <a:schemeClr val="lt1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0"/>
          <p:cNvSpPr txBox="1"/>
          <p:nvPr/>
        </p:nvSpPr>
        <p:spPr>
          <a:xfrm>
            <a:off x="640080" y="1143000"/>
            <a:ext cx="5394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Calibri"/>
              <a:buNone/>
            </a:pPr>
            <a:r>
              <a:rPr b="1" i="0" lang="en-US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Technology Stack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0"/>
          <p:cNvSpPr txBox="1"/>
          <p:nvPr/>
        </p:nvSpPr>
        <p:spPr>
          <a:xfrm>
            <a:off x="539125" y="1506850"/>
            <a:ext cx="5577900" cy="30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6200" lIns="76200" spcFirstLastPara="1" rIns="76200" wrap="square" tIns="76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50"/>
              <a:buFont typeface="Calibri"/>
              <a:buNone/>
            </a:pPr>
            <a:r>
              <a:rPr b="1" i="0" lang="en-US" sz="175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Frontend:</a:t>
            </a:r>
            <a:r>
              <a:rPr b="0" i="0" lang="en-US" sz="1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React 18, Vite 5, Tailwind CSS 3.4, Lucide icons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ts val="1350"/>
              <a:buFont typeface="Calibri"/>
              <a:buNone/>
            </a:pPr>
            <a:r>
              <a:rPr b="1" i="0" lang="en-US" sz="175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On-device AI:</a:t>
            </a:r>
            <a:r>
              <a:rPr b="0" i="0" lang="en-US" sz="1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TensorFlow.js + MobileNetV2 graph model (transfer learning, 224×224 RGB input)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ts val="1350"/>
              <a:buFont typeface="Calibri"/>
              <a:buNone/>
            </a:pPr>
            <a:r>
              <a:rPr b="1" i="0" lang="en-US" sz="175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Storage:</a:t>
            </a:r>
            <a:r>
              <a:rPr b="0" i="0" lang="en-US" sz="1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localStorage with in-memory fallback — streak, total sorted, history[50]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ts val="1350"/>
              <a:buFont typeface="Calibri"/>
              <a:buNone/>
            </a:pPr>
            <a:r>
              <a:rPr b="1" i="0" lang="en-US" sz="175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Content:</a:t>
            </a:r>
            <a:r>
              <a:rPr b="0" i="0" lang="en-US" sz="1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editable rules.json (steps, labels, SDG facts) — no rebuild needed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ts val="1350"/>
              <a:buFont typeface="Calibri"/>
              <a:buNone/>
            </a:pPr>
            <a:r>
              <a:rPr b="1" i="0" lang="en-US" sz="175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Hosting:</a:t>
            </a:r>
            <a:r>
              <a:rPr b="0" i="0" lang="en-US" sz="1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static files on Vercel — </a:t>
            </a:r>
            <a:r>
              <a:rPr b="1" i="0" lang="en-US" sz="175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no backend</a:t>
            </a:r>
            <a:r>
              <a:rPr b="0" i="0" lang="en-US" sz="1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no database, no analytics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0"/>
          <p:cNvSpPr/>
          <p:nvPr/>
        </p:nvSpPr>
        <p:spPr>
          <a:xfrm>
            <a:off x="457200" y="4522475"/>
            <a:ext cx="1371600" cy="842700"/>
          </a:xfrm>
          <a:prstGeom prst="roundRect">
            <a:avLst>
              <a:gd fmla="val 5333" name="adj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0"/>
          <p:cNvSpPr txBox="1"/>
          <p:nvPr/>
        </p:nvSpPr>
        <p:spPr>
          <a:xfrm>
            <a:off x="457200" y="4569306"/>
            <a:ext cx="13716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alibri"/>
              <a:buNone/>
            </a:pPr>
            <a:r>
              <a:rPr b="1" i="0" lang="en-US" sz="20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91.49%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0"/>
          <p:cNvSpPr txBox="1"/>
          <p:nvPr/>
        </p:nvSpPr>
        <p:spPr>
          <a:xfrm>
            <a:off x="530352" y="4873705"/>
            <a:ext cx="12252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 accuracy (target ≥ 80%)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0"/>
          <p:cNvSpPr/>
          <p:nvPr/>
        </p:nvSpPr>
        <p:spPr>
          <a:xfrm>
            <a:off x="1920242" y="4522475"/>
            <a:ext cx="1371600" cy="842700"/>
          </a:xfrm>
          <a:prstGeom prst="roundRect">
            <a:avLst>
              <a:gd fmla="val 5333" name="adj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0"/>
          <p:cNvSpPr txBox="1"/>
          <p:nvPr/>
        </p:nvSpPr>
        <p:spPr>
          <a:xfrm>
            <a:off x="1920242" y="4569306"/>
            <a:ext cx="13716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alibri"/>
              <a:buNone/>
            </a:pPr>
            <a:r>
              <a:rPr b="1" i="0" lang="en-US" sz="20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60%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0"/>
          <p:cNvSpPr txBox="1"/>
          <p:nvPr/>
        </p:nvSpPr>
        <p:spPr>
          <a:xfrm>
            <a:off x="1993394" y="4873705"/>
            <a:ext cx="12252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confidence gate for "Not sure"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0"/>
          <p:cNvSpPr/>
          <p:nvPr/>
        </p:nvSpPr>
        <p:spPr>
          <a:xfrm>
            <a:off x="3383283" y="4522475"/>
            <a:ext cx="1371600" cy="842700"/>
          </a:xfrm>
          <a:prstGeom prst="roundRect">
            <a:avLst>
              <a:gd fmla="val 5333" name="adj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0"/>
          <p:cNvSpPr txBox="1"/>
          <p:nvPr/>
        </p:nvSpPr>
        <p:spPr>
          <a:xfrm>
            <a:off x="3383283" y="4569306"/>
            <a:ext cx="13716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~10 MB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0"/>
          <p:cNvSpPr txBox="1"/>
          <p:nvPr/>
        </p:nvSpPr>
        <p:spPr>
          <a:xfrm>
            <a:off x="3456435" y="4873705"/>
            <a:ext cx="12252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 weights, served separately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4846325" y="4522475"/>
            <a:ext cx="1371600" cy="842700"/>
          </a:xfrm>
          <a:prstGeom prst="roundRect">
            <a:avLst>
              <a:gd fmla="val 5333" name="adj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0"/>
          <p:cNvSpPr txBox="1"/>
          <p:nvPr/>
        </p:nvSpPr>
        <p:spPr>
          <a:xfrm>
            <a:off x="4836800" y="4550256"/>
            <a:ext cx="13716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alibri"/>
              <a:buNone/>
            </a:pPr>
            <a:r>
              <a:rPr b="1" i="0" lang="en-US" sz="20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58 kB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"/>
          <p:cNvSpPr txBox="1"/>
          <p:nvPr/>
        </p:nvSpPr>
        <p:spPr>
          <a:xfrm>
            <a:off x="4919477" y="4873705"/>
            <a:ext cx="12252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gzipped JS bundle (limit 350 kB)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0"/>
          <p:cNvSpPr txBox="1"/>
          <p:nvPr/>
        </p:nvSpPr>
        <p:spPr>
          <a:xfrm>
            <a:off x="6492240" y="1021080"/>
            <a:ext cx="5303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Calibri"/>
              <a:buNone/>
            </a:pPr>
            <a:r>
              <a:rPr b="1" i="0" lang="en-US" sz="2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Client-side Architecture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6492240" y="1554480"/>
            <a:ext cx="5303520" cy="731520"/>
          </a:xfrm>
          <a:prstGeom prst="roundRect">
            <a:avLst>
              <a:gd fmla="val 10000" name="adj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0"/>
          <p:cNvSpPr txBox="1"/>
          <p:nvPr/>
        </p:nvSpPr>
        <p:spPr>
          <a:xfrm>
            <a:off x="6583680" y="1591056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React 18 + Vite UI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0"/>
          <p:cNvSpPr txBox="1"/>
          <p:nvPr/>
        </p:nvSpPr>
        <p:spPr>
          <a:xfrm>
            <a:off x="6583680" y="1909953"/>
            <a:ext cx="5120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Home · Scan · History screens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7" name="Google Shape;207;p10"/>
          <p:cNvCxnSpPr/>
          <p:nvPr/>
        </p:nvCxnSpPr>
        <p:spPr>
          <a:xfrm>
            <a:off x="9144000" y="2286000"/>
            <a:ext cx="0" cy="27432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8" name="Google Shape;208;p10"/>
          <p:cNvSpPr/>
          <p:nvPr/>
        </p:nvSpPr>
        <p:spPr>
          <a:xfrm>
            <a:off x="6492240" y="2560320"/>
            <a:ext cx="5303520" cy="731520"/>
          </a:xfrm>
          <a:prstGeom prst="roundRect">
            <a:avLst>
              <a:gd fmla="val 10000" name="adj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0"/>
          <p:cNvSpPr txBox="1"/>
          <p:nvPr/>
        </p:nvSpPr>
        <p:spPr>
          <a:xfrm>
            <a:off x="6583680" y="2596896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View state machine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0"/>
          <p:cNvSpPr txBox="1"/>
          <p:nvPr/>
        </p:nvSpPr>
        <p:spPr>
          <a:xfrm>
            <a:off x="6583680" y="2915793"/>
            <a:ext cx="5120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home → analyzing → result → history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1" name="Google Shape;211;p10"/>
          <p:cNvCxnSpPr/>
          <p:nvPr/>
        </p:nvCxnSpPr>
        <p:spPr>
          <a:xfrm>
            <a:off x="9144000" y="3291840"/>
            <a:ext cx="0" cy="27432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2" name="Google Shape;212;p10"/>
          <p:cNvSpPr/>
          <p:nvPr/>
        </p:nvSpPr>
        <p:spPr>
          <a:xfrm>
            <a:off x="6492240" y="3566160"/>
            <a:ext cx="5303520" cy="731520"/>
          </a:xfrm>
          <a:prstGeom prst="roundRect">
            <a:avLst>
              <a:gd fmla="val 10000" name="adj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0"/>
          <p:cNvSpPr txBox="1"/>
          <p:nvPr/>
        </p:nvSpPr>
        <p:spPr>
          <a:xfrm>
            <a:off x="6583680" y="3602736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Decision engine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0"/>
          <p:cNvSpPr txBox="1"/>
          <p:nvPr/>
        </p:nvSpPr>
        <p:spPr>
          <a:xfrm>
            <a:off x="6583680" y="3921633"/>
            <a:ext cx="5120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60% confidence gate + Background filter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5" name="Google Shape;215;p10"/>
          <p:cNvCxnSpPr/>
          <p:nvPr/>
        </p:nvCxnSpPr>
        <p:spPr>
          <a:xfrm>
            <a:off x="9144000" y="4297680"/>
            <a:ext cx="0" cy="27432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6" name="Google Shape;216;p10"/>
          <p:cNvSpPr/>
          <p:nvPr/>
        </p:nvSpPr>
        <p:spPr>
          <a:xfrm>
            <a:off x="6492240" y="4572000"/>
            <a:ext cx="5303520" cy="731520"/>
          </a:xfrm>
          <a:prstGeom prst="roundRect">
            <a:avLst>
              <a:gd fmla="val 10000" name="adj"/>
            </a:avLst>
          </a:prstGeom>
          <a:solidFill>
            <a:srgbClr val="FFC1C4">
              <a:alpha val="68130"/>
            </a:srgbClr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0"/>
          <p:cNvSpPr txBox="1"/>
          <p:nvPr/>
        </p:nvSpPr>
        <p:spPr>
          <a:xfrm>
            <a:off x="6583680" y="4608576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TensorFlow.js model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0"/>
          <p:cNvSpPr txBox="1"/>
          <p:nvPr/>
        </p:nvSpPr>
        <p:spPr>
          <a:xfrm>
            <a:off x="6583680" y="4927473"/>
            <a:ext cx="5120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MobileNetV2 · EXIF-aware 224 px input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6492240" y="5577840"/>
            <a:ext cx="5303520" cy="685800"/>
          </a:xfrm>
          <a:prstGeom prst="roundRect">
            <a:avLst>
              <a:gd fmla="val 10667" name="adj"/>
            </a:avLst>
          </a:prstGeom>
          <a:solidFill>
            <a:schemeClr val="lt1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0"/>
          <p:cNvSpPr txBox="1"/>
          <p:nvPr/>
        </p:nvSpPr>
        <p:spPr>
          <a:xfrm>
            <a:off x="6583680" y="5577840"/>
            <a:ext cx="51206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Calibri"/>
              <a:buNone/>
            </a:pPr>
            <a:r>
              <a:rPr b="1" i="0" lang="en-US" sz="17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Runs fully on the phone: no photo or personal data leaves the browser. HTTPS required for camera.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0"/>
          <p:cNvSpPr txBox="1"/>
          <p:nvPr>
            <p:ph idx="4294967295" type="sldNum"/>
          </p:nvPr>
        </p:nvSpPr>
        <p:spPr>
          <a:xfrm>
            <a:off x="11155680" y="649224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1528375" y="5452800"/>
            <a:ext cx="3599400" cy="969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3" name="Google Shape;223;p10" title="SourceCodeQ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20725" y="5481100"/>
            <a:ext cx="913300" cy="9133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0"/>
          <p:cNvSpPr txBox="1"/>
          <p:nvPr/>
        </p:nvSpPr>
        <p:spPr>
          <a:xfrm>
            <a:off x="1798013" y="5577850"/>
            <a:ext cx="22305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Github Repo</a:t>
            </a:r>
            <a:endParaRPr b="1" sz="2400"/>
          </a:p>
        </p:txBody>
      </p:sp>
      <p:sp>
        <p:nvSpPr>
          <p:cNvPr id="225" name="Google Shape;225;p10"/>
          <p:cNvSpPr txBox="1"/>
          <p:nvPr/>
        </p:nvSpPr>
        <p:spPr>
          <a:xfrm>
            <a:off x="2083225" y="5971150"/>
            <a:ext cx="1481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(Source Code)</a:t>
            </a:r>
            <a:endParaRPr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1"/>
          <p:cNvSpPr txBox="1"/>
          <p:nvPr>
            <p:ph type="title"/>
          </p:nvPr>
        </p:nvSpPr>
        <p:spPr>
          <a:xfrm>
            <a:off x="2651760" y="201168"/>
            <a:ext cx="6858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Times New Roman"/>
              <a:buNone/>
            </a:pPr>
            <a:r>
              <a:rPr b="1" lang="en-US" sz="3000">
                <a:solidFill>
                  <a:schemeClr val="dk2"/>
                </a:solidFill>
              </a:rPr>
              <a:t>FEASIBILITY &amp; IMPACT</a:t>
            </a:r>
            <a:endParaRPr sz="3000"/>
          </a:p>
        </p:txBody>
      </p:sp>
      <p:sp>
        <p:nvSpPr>
          <p:cNvPr id="232" name="Google Shape;232;p11"/>
          <p:cNvSpPr/>
          <p:nvPr/>
        </p:nvSpPr>
        <p:spPr>
          <a:xfrm>
            <a:off x="457200" y="1097280"/>
            <a:ext cx="6858000" cy="4297680"/>
          </a:xfrm>
          <a:prstGeom prst="roundRect">
            <a:avLst>
              <a:gd fmla="val 1702" name="adj"/>
            </a:avLst>
          </a:prstGeom>
          <a:solidFill>
            <a:schemeClr val="lt1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1"/>
          <p:cNvSpPr txBox="1"/>
          <p:nvPr/>
        </p:nvSpPr>
        <p:spPr>
          <a:xfrm>
            <a:off x="640080" y="114300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Calibri"/>
              <a:buNone/>
            </a:pPr>
            <a:r>
              <a:rPr b="1" i="0" lang="en-US" sz="2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Challenge → Fix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1"/>
          <p:cNvSpPr txBox="1"/>
          <p:nvPr/>
        </p:nvSpPr>
        <p:spPr>
          <a:xfrm>
            <a:off x="640080" y="1554480"/>
            <a:ext cx="20118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None/>
            </a:pPr>
            <a:r>
              <a:rPr b="1" i="0" lang="en-US" sz="1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Unknown or unclear items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5" name="Google Shape;235;p11"/>
          <p:cNvCxnSpPr/>
          <p:nvPr/>
        </p:nvCxnSpPr>
        <p:spPr>
          <a:xfrm>
            <a:off x="2651760" y="1892808"/>
            <a:ext cx="274320" cy="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6" name="Google Shape;236;p11"/>
          <p:cNvSpPr txBox="1"/>
          <p:nvPr/>
        </p:nvSpPr>
        <p:spPr>
          <a:xfrm>
            <a:off x="3059666" y="1546051"/>
            <a:ext cx="42063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60% gate + hidden Background class return "Not sure" instead of wrong advice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1"/>
          <p:cNvSpPr txBox="1"/>
          <p:nvPr/>
        </p:nvSpPr>
        <p:spPr>
          <a:xfrm>
            <a:off x="640080" y="2322576"/>
            <a:ext cx="20118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None/>
            </a:pPr>
            <a:r>
              <a:rPr b="1" i="0" lang="en-US" sz="1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Real phone photos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8" name="Google Shape;238;p11"/>
          <p:cNvCxnSpPr/>
          <p:nvPr/>
        </p:nvCxnSpPr>
        <p:spPr>
          <a:xfrm>
            <a:off x="2651760" y="2660904"/>
            <a:ext cx="274320" cy="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9" name="Google Shape;239;p11"/>
          <p:cNvSpPr txBox="1"/>
          <p:nvPr/>
        </p:nvSpPr>
        <p:spPr>
          <a:xfrm>
            <a:off x="3059666" y="2314147"/>
            <a:ext cx="42063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EXIF-aware decoding; run-ID guard cancels stale async scans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1"/>
          <p:cNvSpPr txBox="1"/>
          <p:nvPr/>
        </p:nvSpPr>
        <p:spPr>
          <a:xfrm>
            <a:off x="640080" y="3090672"/>
            <a:ext cx="20118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None/>
            </a:pPr>
            <a:r>
              <a:rPr b="1" i="0" lang="en-US" sz="1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Storage limits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1" name="Google Shape;241;p11"/>
          <p:cNvCxnSpPr/>
          <p:nvPr/>
        </p:nvCxnSpPr>
        <p:spPr>
          <a:xfrm>
            <a:off x="2651760" y="3429000"/>
            <a:ext cx="274320" cy="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2" name="Google Shape;242;p11"/>
          <p:cNvSpPr txBox="1"/>
          <p:nvPr/>
        </p:nvSpPr>
        <p:spPr>
          <a:xfrm>
            <a:off x="3059666" y="3082243"/>
            <a:ext cx="42063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100 px JPEG thumbnails, 50-scan cap, oldest dropped on quota error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1"/>
          <p:cNvSpPr txBox="1"/>
          <p:nvPr/>
        </p:nvSpPr>
        <p:spPr>
          <a:xfrm>
            <a:off x="640080" y="3858768"/>
            <a:ext cx="20118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None/>
            </a:pPr>
            <a:r>
              <a:rPr b="1" i="0" lang="en-US" sz="1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Mid-range phones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4" name="Google Shape;244;p11"/>
          <p:cNvCxnSpPr/>
          <p:nvPr/>
        </p:nvCxnSpPr>
        <p:spPr>
          <a:xfrm>
            <a:off x="2651760" y="4197096"/>
            <a:ext cx="274320" cy="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5" name="Google Shape;245;p11"/>
          <p:cNvSpPr txBox="1"/>
          <p:nvPr/>
        </p:nvSpPr>
        <p:spPr>
          <a:xfrm>
            <a:off x="3059666" y="3850339"/>
            <a:ext cx="42063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on-device; ≤ 2 s target; Android Chrome 111+, iOS Safari 16.4+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1"/>
          <p:cNvSpPr txBox="1"/>
          <p:nvPr/>
        </p:nvSpPr>
        <p:spPr>
          <a:xfrm>
            <a:off x="640080" y="4626864"/>
            <a:ext cx="20118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None/>
            </a:pPr>
            <a:r>
              <a:rPr b="1" i="0" lang="en-US" sz="1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Out-of-scope waste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7" name="Google Shape;247;p11"/>
          <p:cNvCxnSpPr/>
          <p:nvPr/>
        </p:nvCxnSpPr>
        <p:spPr>
          <a:xfrm>
            <a:off x="2651760" y="4965192"/>
            <a:ext cx="274320" cy="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8" name="Google Shape;248;p11"/>
          <p:cNvSpPr txBox="1"/>
          <p:nvPr/>
        </p:nvSpPr>
        <p:spPr>
          <a:xfrm>
            <a:off x="3059666" y="4618435"/>
            <a:ext cx="42063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Sanitary, bio-medical, textiles, debris, furniture may give "Not sure" or nearest class (accepted v1 limit)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1"/>
          <p:cNvSpPr/>
          <p:nvPr/>
        </p:nvSpPr>
        <p:spPr>
          <a:xfrm>
            <a:off x="7498080" y="1097280"/>
            <a:ext cx="4297680" cy="4297680"/>
          </a:xfrm>
          <a:prstGeom prst="roundRect">
            <a:avLst>
              <a:gd fmla="val 1702" name="adj"/>
            </a:avLst>
          </a:prstGeom>
          <a:solidFill>
            <a:schemeClr val="lt1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1"/>
          <p:cNvSpPr txBox="1"/>
          <p:nvPr/>
        </p:nvSpPr>
        <p:spPr>
          <a:xfrm>
            <a:off x="7664102" y="1176717"/>
            <a:ext cx="3931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00"/>
              <a:buFont typeface="Calibri"/>
              <a:buNone/>
            </a:pPr>
            <a:r>
              <a:rPr b="1" i="0" lang="en-US" sz="21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Impact &amp; Benefits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1"/>
          <p:cNvSpPr txBox="1"/>
          <p:nvPr/>
        </p:nvSpPr>
        <p:spPr>
          <a:xfrm>
            <a:off x="7665383" y="1664060"/>
            <a:ext cx="4114800" cy="37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76200" lIns="76200" spcFirstLastPara="1" rIns="76200" wrap="square" tIns="76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50"/>
              <a:buFont typeface="Calibri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Citizens: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one-scan clarity with numbered, India-friendly steps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ts val="1350"/>
              <a:buFont typeface="Calibri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Habit loop: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items-sorted counter, day streak, history, thumbs feedback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ts val="1350"/>
              <a:buFont typeface="Calibri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Privacy by design: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no backend, uploads, accounts or analytics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ts val="1350"/>
              <a:buFont typeface="Calibri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Land &amp; biodiversity: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every result carries an SDG 15 fact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1"/>
          <p:cNvSpPr/>
          <p:nvPr/>
        </p:nvSpPr>
        <p:spPr>
          <a:xfrm>
            <a:off x="457200" y="5532120"/>
            <a:ext cx="11338560" cy="777240"/>
          </a:xfrm>
          <a:prstGeom prst="roundRect">
            <a:avLst>
              <a:gd fmla="val 9412" name="adj"/>
            </a:avLst>
          </a:prstGeom>
          <a:solidFill>
            <a:schemeClr val="accent3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1"/>
          <p:cNvSpPr txBox="1"/>
          <p:nvPr/>
        </p:nvSpPr>
        <p:spPr>
          <a:xfrm>
            <a:off x="640080" y="5532120"/>
            <a:ext cx="10972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SDG 15 · LIFE ON LAND  —  "Every scan that lands waste in the right bin is a vote for the planet."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1"/>
          <p:cNvSpPr txBox="1"/>
          <p:nvPr>
            <p:ph idx="4294967295" type="sldNum"/>
          </p:nvPr>
        </p:nvSpPr>
        <p:spPr>
          <a:xfrm>
            <a:off x="11155680" y="649224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inGo Fantastic Four">
  <a:themeElements>
    <a:clrScheme name="BinGo Fantastic Four">
      <a:dk1>
        <a:srgbClr val="1F2937"/>
      </a:dk1>
      <a:lt1>
        <a:srgbClr val="FFFFFF"/>
      </a:lt1>
      <a:dk2>
        <a:srgbClr val="093D6B"/>
      </a:dk2>
      <a:lt2>
        <a:srgbClr val="EAF7F0"/>
      </a:lt2>
      <a:accent1>
        <a:srgbClr val="093D6B"/>
      </a:accent1>
      <a:accent2>
        <a:srgbClr val="D61F26"/>
      </a:accent2>
      <a:accent3>
        <a:srgbClr val="16A34A"/>
      </a:accent3>
      <a:accent4>
        <a:srgbClr val="2563EB"/>
      </a:accent4>
      <a:accent5>
        <a:srgbClr val="7C3AED"/>
      </a:accent5>
      <a:accent6>
        <a:srgbClr val="6B7280"/>
      </a:accent6>
      <a:hlink>
        <a:srgbClr val="2563EB"/>
      </a:hlink>
      <a:folHlink>
        <a:srgbClr val="7C3AE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inGo Fantastic Four">
  <a:themeElements>
    <a:clrScheme name="BinGo Fantastic Four">
      <a:dk1>
        <a:srgbClr val="1F2937"/>
      </a:dk1>
      <a:lt1>
        <a:srgbClr val="FFFFFF"/>
      </a:lt1>
      <a:dk2>
        <a:srgbClr val="093D6B"/>
      </a:dk2>
      <a:lt2>
        <a:srgbClr val="EAF7F0"/>
      </a:lt2>
      <a:accent1>
        <a:srgbClr val="093D6B"/>
      </a:accent1>
      <a:accent2>
        <a:srgbClr val="D61F26"/>
      </a:accent2>
      <a:accent3>
        <a:srgbClr val="16A34A"/>
      </a:accent3>
      <a:accent4>
        <a:srgbClr val="2563EB"/>
      </a:accent4>
      <a:accent5>
        <a:srgbClr val="7C3AED"/>
      </a:accent5>
      <a:accent6>
        <a:srgbClr val="6B7280"/>
      </a:accent6>
      <a:hlink>
        <a:srgbClr val="2563EB"/>
      </a:hlink>
      <a:folHlink>
        <a:srgbClr val="7C3AE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